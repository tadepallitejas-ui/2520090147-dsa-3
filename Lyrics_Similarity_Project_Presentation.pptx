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685800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48DCE0"/>
                </a:solidFill>
                <a:latin typeface="Aptos"/>
              </a:rPr>
              <a:t>DATA STRUCTURES &amp; ALGORITHMS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7040880" cy="1417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3400" b="1">
                <a:solidFill>
                  <a:srgbClr val="F5F7FF"/>
                </a:solidFill>
                <a:latin typeface="Aptos"/>
              </a:rPr>
              <a:t>Lyrics Similarity
&amp; Attribution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971800"/>
            <a:ext cx="6035040" cy="82296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700" b="0">
                <a:solidFill>
                  <a:srgbClr val="B0BBD2"/>
                </a:solidFill>
                <a:latin typeface="Aptos"/>
              </a:rPr>
              <a:t>Find the closest matching songs from a lyric snippet using 3-word shingles, Jaccard similarity, and top-5 ranking.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60520"/>
            <a:ext cx="4023360" cy="530352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79392"/>
            <a:ext cx="3749039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F5F7FF"/>
                </a:solidFill>
                <a:latin typeface="Aptos"/>
              </a:rPr>
              <a:t>React  •  Spring Boot  • 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5925312"/>
            <a:ext cx="612648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Presented by: Tejas T  |  Team member: Yaswanth 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606040"/>
            <a:ext cx="118872" cy="457200"/>
          </a:xfrm>
          <a:prstGeom prst="round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11896" y="2423160"/>
            <a:ext cx="118872" cy="822960"/>
          </a:xfrm>
          <a:prstGeom prst="round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7072" y="2217420"/>
            <a:ext cx="118872" cy="1234440"/>
          </a:xfrm>
          <a:prstGeom prst="round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42248" y="2514600"/>
            <a:ext cx="118872" cy="640080"/>
          </a:xfrm>
          <a:prstGeom prst="round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07424" y="2103120"/>
            <a:ext cx="118872" cy="1463040"/>
          </a:xfrm>
          <a:prstGeom prst="round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72600" y="2354580"/>
            <a:ext cx="118872" cy="960120"/>
          </a:xfrm>
          <a:prstGeom prst="round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37776" y="2583180"/>
            <a:ext cx="118872" cy="502920"/>
          </a:xfrm>
          <a:prstGeom prst="round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02952" y="2263140"/>
            <a:ext cx="118872" cy="1143000"/>
          </a:xfrm>
          <a:prstGeom prst="round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8128" y="2468880"/>
            <a:ext cx="118872" cy="731520"/>
          </a:xfrm>
          <a:prstGeom prst="round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33304" y="2148840"/>
            <a:ext cx="118872" cy="1371600"/>
          </a:xfrm>
          <a:prstGeom prst="round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98480" y="2537460"/>
            <a:ext cx="118872" cy="594360"/>
          </a:xfrm>
          <a:prstGeom prst="round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63656" y="2377440"/>
            <a:ext cx="118872" cy="914400"/>
          </a:xfrm>
          <a:prstGeom prst="round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3794760"/>
            <a:ext cx="3474720" cy="4114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48DCE0"/>
                </a:solidFill>
                <a:latin typeface="Aptos"/>
              </a:rPr>
              <a:t>SEARCH  •  COMPARE  • 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Why lyric matching needs a structured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663440" cy="4572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200" b="1">
                <a:solidFill>
                  <a:srgbClr val="48DCE0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754880" cy="1417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800" b="0">
                <a:solidFill>
                  <a:srgbClr val="F5F7FF"/>
                </a:solidFill>
                <a:latin typeface="Aptos"/>
              </a:rPr>
              <a:t>A user may remember a few lines of a song but not its title or artist. Exact text search can miss similar snippets when punctuation, case, or wording differs.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508760"/>
            <a:ext cx="2468880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64008" cy="1417320"/>
          </a:xfrm>
          <a:prstGeom prst="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618488"/>
            <a:ext cx="21031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F68A4"/>
                </a:solidFill>
                <a:latin typeface="Aptos"/>
              </a:rPr>
              <a:t>Exact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984248"/>
            <a:ext cx="2103120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Strict text search may miss partial or slightly different snippets.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508760"/>
            <a:ext cx="2606040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1508760"/>
            <a:ext cx="64008" cy="1417320"/>
          </a:xfrm>
          <a:prstGeom prst="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1618488"/>
            <a:ext cx="224028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A576FF"/>
                </a:solidFill>
                <a:latin typeface="Aptos"/>
              </a:rPr>
              <a:t>Growing 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84248"/>
            <a:ext cx="2240280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Manual comparison becomes slow as the song collection grows.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246120"/>
            <a:ext cx="2468880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246120"/>
            <a:ext cx="64008" cy="1417320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3355848"/>
            <a:ext cx="21031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48DCE0"/>
                </a:solidFill>
                <a:latin typeface="Aptos"/>
              </a:rPr>
              <a:t>Ranked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721608"/>
            <a:ext cx="2103120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Users need likely matches presented from highest to lowest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246120"/>
            <a:ext cx="2606040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3246120"/>
            <a:ext cx="64008" cy="1417320"/>
          </a:xfrm>
          <a:prstGeom prst="rect">
            <a:avLst/>
          </a:prstGeom>
          <a:solidFill>
            <a:srgbClr val="72E6AB"/>
          </a:solidFill>
          <a:ln>
            <a:solidFill>
              <a:srgbClr val="72E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3355848"/>
            <a:ext cx="224028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72E6AB"/>
                </a:solidFill>
                <a:latin typeface="Aptos"/>
              </a:rPr>
              <a:t>Clear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3721608"/>
            <a:ext cx="2240280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Each result should show song title, artist, and similarity score.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102412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000" b="1">
                <a:solidFill>
                  <a:srgbClr val="F5F7FF"/>
                </a:solidFill>
                <a:latin typeface="Aptos"/>
              </a:rPr>
              <a:t>Goal: convert a short lyric snippet into a ranked list of likely matching songs.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Core goals of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6002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54864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500" b="1">
                <a:solidFill>
                  <a:srgbClr val="48DCE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26080" cy="310896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Submit lyrics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Accept a lyric snippet from the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383280" cy="16002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18488"/>
            <a:ext cx="54864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500" b="1">
                <a:solidFill>
                  <a:srgbClr val="A576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65960"/>
            <a:ext cx="2926080" cy="310896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Normalize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40864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Convert text to lowercase and standardize punctuation.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08760"/>
            <a:ext cx="3383280" cy="16002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618488"/>
            <a:ext cx="54864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500" b="1">
                <a:solidFill>
                  <a:srgbClr val="FF68A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65960"/>
            <a:ext cx="2926080" cy="310896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Create shingles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40864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Represent lyrics as unique sequences of three words.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3383280" cy="16002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7"/>
            <a:ext cx="54864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500" b="1">
                <a:solidFill>
                  <a:srgbClr val="72E6A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2926080" cy="310896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Calculate 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98264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Use Jaccard similarity to compare shingle sets.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566160"/>
            <a:ext cx="3383280" cy="16002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675887"/>
            <a:ext cx="54864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500" b="1">
                <a:solidFill>
                  <a:srgbClr val="FFCC6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23360"/>
            <a:ext cx="2926080" cy="310896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Rank matches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98264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Keep and return the five highest-scoring songs.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566160"/>
            <a:ext cx="3383280" cy="16002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675887"/>
            <a:ext cx="54864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500" b="1">
                <a:solidFill>
                  <a:srgbClr val="48DCE0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23360"/>
            <a:ext cx="2926080" cy="310896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Manage songs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398264"/>
            <a:ext cx="2926080" cy="56692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Add, view, and delete songs through API endpoints.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Frontend, backend API, and database communicate in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063240" cy="196596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6974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600" b="1">
                <a:solidFill>
                  <a:srgbClr val="48DCE0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06040"/>
            <a:ext cx="2651760" cy="9144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500" b="0">
                <a:solidFill>
                  <a:srgbClr val="F5F7FF"/>
                </a:solidFill>
                <a:latin typeface="Aptos"/>
              </a:rPr>
              <a:t>React + Vite
Enter lyrics
View results and song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3063240" cy="196596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03120"/>
            <a:ext cx="26974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600" b="1">
                <a:solidFill>
                  <a:srgbClr val="A576FF"/>
                </a:solidFill>
                <a:latin typeface="Aptos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606040"/>
            <a:ext cx="2651760" cy="9144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500" b="0">
                <a:solidFill>
                  <a:srgbClr val="F5F7FF"/>
                </a:solidFill>
                <a:latin typeface="Aptos"/>
              </a:rPr>
              <a:t>Spring Boot
Validate requests
Run matching algorithm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74519"/>
            <a:ext cx="3063240" cy="196596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03120"/>
            <a:ext cx="26974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600" b="1">
                <a:solidFill>
                  <a:srgbClr val="FF68A4"/>
                </a:solidFill>
                <a:latin typeface="Aptos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606040"/>
            <a:ext cx="2651760" cy="9144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500" b="0">
                <a:solidFill>
                  <a:srgbClr val="F5F7FF"/>
                </a:solidFill>
                <a:latin typeface="Aptos"/>
              </a:rPr>
              <a:t>MongoDB
Store song metadata
Store lyrics and shingles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2834640"/>
            <a:ext cx="548640" cy="0"/>
          </a:xfrm>
          <a:prstGeom prst="line">
            <a:avLst/>
          </a:prstGeom>
          <a:ln w="38100">
            <a:solidFill>
              <a:srgbClr val="4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35240" y="2834640"/>
            <a:ext cx="548639" cy="0"/>
          </a:xfrm>
          <a:prstGeom prst="line">
            <a:avLst/>
          </a:prstGeom>
          <a:ln w="38100">
            <a:solidFill>
              <a:srgbClr val="A5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4434840"/>
            <a:ext cx="10058400" cy="7315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600" b="0">
                <a:solidFill>
                  <a:srgbClr val="B0BBD2"/>
                </a:solidFill>
                <a:latin typeface="Aptos"/>
              </a:rPr>
              <a:t>Request flow: Browser → REST endpoint → similarity service / database → JSON response → ranked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5532120"/>
            <a:ext cx="8138160" cy="438912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5596128"/>
            <a:ext cx="7863840" cy="25603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48DCE0"/>
                </a:solidFill>
                <a:latin typeface="Aptos"/>
              </a:rPr>
              <a:t>Backend: localhost:8080     |     Frontend: localhost:5173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Technology Stack &amp;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Based on the submitted project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417320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18488"/>
            <a:ext cx="30175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48DCE0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3017520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React components with Vite: QueryForm, ResultsList, AddSongForm, SongList.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417320"/>
          </a:xfrm>
          <a:prstGeom prst="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18488"/>
            <a:ext cx="30175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A576FF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3017520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Java and Spring Boot REST controllers plus SimilarityService.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383280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4008" cy="1417320"/>
          </a:xfrm>
          <a:prstGeom prst="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18488"/>
            <a:ext cx="30175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F68A4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84248"/>
            <a:ext cx="3017520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MongoDB stores song title, artist, lyrics, and precomputed shingles.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474720"/>
            <a:ext cx="3749039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474720"/>
            <a:ext cx="64008" cy="1417320"/>
          </a:xfrm>
          <a:prstGeom prst="rect">
            <a:avLst/>
          </a:prstGeom>
          <a:solidFill>
            <a:srgbClr val="72E6AB"/>
          </a:solidFill>
          <a:ln>
            <a:solidFill>
              <a:srgbClr val="72E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9968" y="3584448"/>
            <a:ext cx="3383279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72E6AB"/>
                </a:solidFill>
                <a:latin typeface="Aptos"/>
              </a:rPr>
              <a:t>Song management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950208"/>
            <a:ext cx="3383279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0">
                <a:solidFill>
                  <a:srgbClr val="F5F7FF"/>
                </a:solidFill>
                <a:latin typeface="Aptos"/>
              </a:rPr>
              <a:t>GET /api/songs — list songs
POST /api/songs — add a song
DELETE /api/songs/{id} — remove a song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474720"/>
            <a:ext cx="3749039" cy="141732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474720"/>
            <a:ext cx="64008" cy="1417320"/>
          </a:xfrm>
          <a:prstGeom prst="rect">
            <a:avLst/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584448"/>
            <a:ext cx="3383279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FCC66"/>
                </a:solidFill>
                <a:latin typeface="Aptos"/>
              </a:rPr>
              <a:t>Similarity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950208"/>
            <a:ext cx="3383279" cy="8503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POST /api/query
Receives a lyric snippet and returns ranked MatchResult items.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86400"/>
            <a:ext cx="9875520" cy="36576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0">
                <a:solidFill>
                  <a:srgbClr val="B0BBD2"/>
                </a:solidFill>
                <a:latin typeface="Aptos"/>
              </a:rPr>
              <a:t>Separation of concerns makes the UI, API, matching logic, and persistence easier to maintain.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Similarity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How the submitted lyric is compared with stored songs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514600" cy="18288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4114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800" b="1">
                <a:solidFill>
                  <a:srgbClr val="48DCE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214884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Normalize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97480"/>
            <a:ext cx="214884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Lowercase text and replace non-alphanumeric punctuation.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27832" y="2606040"/>
            <a:ext cx="274320" cy="0"/>
          </a:xfrm>
          <a:prstGeom prst="line">
            <a:avLst/>
          </a:prstGeom>
          <a:ln w="25400">
            <a:solidFill>
              <a:srgbClr val="4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691640"/>
            <a:ext cx="2514600" cy="18288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847088"/>
            <a:ext cx="4114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800" b="1">
                <a:solidFill>
                  <a:srgbClr val="A576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267712"/>
            <a:ext cx="214884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Shingle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697480"/>
            <a:ext cx="214884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Create unique 3-word sequences from consecutive words.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08192" y="2606040"/>
            <a:ext cx="274320" cy="0"/>
          </a:xfrm>
          <a:prstGeom prst="line">
            <a:avLst/>
          </a:prstGeom>
          <a:ln w="25400">
            <a:solidFill>
              <a:srgbClr val="A5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46520" y="1691640"/>
            <a:ext cx="2514600" cy="18288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847088"/>
            <a:ext cx="4114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800" b="1">
                <a:solidFill>
                  <a:srgbClr val="FF68A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267712"/>
            <a:ext cx="214884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Compare 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97480"/>
            <a:ext cx="214884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Find intersection and union of query and song shingles.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88552" y="2606040"/>
            <a:ext cx="274320" cy="0"/>
          </a:xfrm>
          <a:prstGeom prst="line">
            <a:avLst/>
          </a:prstGeom>
          <a:ln w="25400">
            <a:solidFill>
              <a:srgbClr val="FF6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691640"/>
            <a:ext cx="2514600" cy="18288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1847088"/>
            <a:ext cx="4114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800" b="1">
                <a:solidFill>
                  <a:srgbClr val="72E6AB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2267712"/>
            <a:ext cx="214884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Compute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697480"/>
            <a:ext cx="214884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B0BBD2"/>
                </a:solidFill>
                <a:latin typeface="Aptos"/>
              </a:rPr>
              <a:t>J(A,B) = |A ∩ B| / |A ∪ B|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160520"/>
            <a:ext cx="9966960" cy="105156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297680"/>
            <a:ext cx="950976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600" b="1">
                <a:solidFill>
                  <a:srgbClr val="48DCE0"/>
                </a:solidFill>
                <a:latin typeface="Aptos"/>
              </a:rPr>
              <a:t>Example 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63440"/>
            <a:ext cx="93268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0">
                <a:solidFill>
                  <a:srgbClr val="F5F7FF"/>
                </a:solidFill>
                <a:latin typeface="Aptos"/>
              </a:rPr>
              <a:t>A score of 1.0 means the shingle sets are identical; 0.0 means there is no overlap.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15000"/>
            <a:ext cx="97840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300" b="0">
                <a:solidFill>
                  <a:srgbClr val="B0BBD2"/>
                </a:solidFill>
                <a:latin typeface="Aptos"/>
              </a:rPr>
              <a:t>The project precomputes shingles for stored songs to avoid repeating work on every query.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Data Structures &amp; Algorithms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DSA concepts behind efficient comparison and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150876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64008" cy="1508760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664207"/>
            <a:ext cx="30175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48DCE0"/>
                </a:solidFill>
                <a:latin typeface="Aptos"/>
              </a:rPr>
              <a:t>HashSet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29967"/>
            <a:ext cx="3017520" cy="941831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Stores unique shingles and supports average O(1) membership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50876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4008" cy="1508760"/>
          </a:xfrm>
          <a:prstGeom prst="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64207"/>
            <a:ext cx="30175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A576FF"/>
                </a:solidFill>
                <a:latin typeface="Aptos"/>
              </a:rPr>
              <a:t>Jaccard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29967"/>
            <a:ext cx="3017520" cy="941831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Measures overlap between the query set and each song's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383280" cy="150876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54480"/>
            <a:ext cx="64008" cy="1508760"/>
          </a:xfrm>
          <a:prstGeom prst="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664207"/>
            <a:ext cx="301752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F68A4"/>
                </a:solidFill>
                <a:latin typeface="Aptos"/>
              </a:rPr>
              <a:t>Min-heap / PriorityQueue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029967"/>
            <a:ext cx="3017520" cy="941831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Maintains only the top 5 matches rather than sorting every result.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49039"/>
            <a:ext cx="9966960" cy="128016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913632"/>
            <a:ext cx="941832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800" b="1">
                <a:solidFill>
                  <a:srgbClr val="72E6AB"/>
                </a:solidFill>
                <a:latin typeface="Aptos"/>
              </a:rPr>
              <a:t>Ranking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43400"/>
            <a:ext cx="9326880" cy="4114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500" b="0">
                <a:solidFill>
                  <a:srgbClr val="F5F7FF"/>
                </a:solidFill>
                <a:latin typeface="Aptos"/>
              </a:rPr>
              <a:t>For n stored songs and k = 5 results, heap maintenance is O(n log k), after each song's score is calculated.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86400"/>
            <a:ext cx="987552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0">
                <a:solidFill>
                  <a:srgbClr val="B0BBD2"/>
                </a:solidFill>
                <a:latin typeface="Aptos"/>
              </a:rPr>
              <a:t>Set-based comparison and bounded ranking are the main DSA contributions of this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Application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From user input to the final top-five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828800" cy="141732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331720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48DCE0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1609344" cy="5486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0">
                <a:solidFill>
                  <a:srgbClr val="F5F7FF"/>
                </a:solidFill>
                <a:latin typeface="Aptos"/>
              </a:rPr>
              <a:t>User pastes lyric
snippet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148840"/>
            <a:ext cx="1828800" cy="141732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331720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A576FF"/>
                </a:solidFill>
                <a:latin typeface="Aptos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743200"/>
            <a:ext cx="1609344" cy="5486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0">
                <a:solidFill>
                  <a:srgbClr val="F5F7FF"/>
                </a:solidFill>
                <a:latin typeface="Aptos"/>
              </a:rPr>
              <a:t>Normalize and
create shingles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148840"/>
            <a:ext cx="1828800" cy="141732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2331720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FF68A4"/>
                </a:solidFill>
                <a:latin typeface="Aptos"/>
              </a:rP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743200"/>
            <a:ext cx="1609344" cy="5486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0">
                <a:solidFill>
                  <a:srgbClr val="F5F7FF"/>
                </a:solidFill>
                <a:latin typeface="Aptos"/>
              </a:rPr>
              <a:t>Score against
stored songs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148840"/>
            <a:ext cx="1828800" cy="141732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331720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72E6AB"/>
                </a:solidFill>
                <a:latin typeface="Aptos"/>
              </a:rPr>
              <a:t>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743200"/>
            <a:ext cx="1609344" cy="5486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0">
                <a:solidFill>
                  <a:srgbClr val="F5F7FF"/>
                </a:solidFill>
                <a:latin typeface="Aptos"/>
              </a:rPr>
              <a:t>Keep top 5 using
min-heap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148840"/>
            <a:ext cx="1828800" cy="1417320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331720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FFCC66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2743200"/>
            <a:ext cx="1609344" cy="5486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0">
                <a:solidFill>
                  <a:srgbClr val="F5F7FF"/>
                </a:solidFill>
                <a:latin typeface="Aptos"/>
              </a:rPr>
              <a:t>Show title, artist
and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14600" y="2852928"/>
            <a:ext cx="292608" cy="0"/>
          </a:xfrm>
          <a:prstGeom prst="line">
            <a:avLst/>
          </a:prstGeom>
          <a:ln w="25400">
            <a:solidFill>
              <a:srgbClr val="4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4880" y="2852928"/>
            <a:ext cx="292608" cy="0"/>
          </a:xfrm>
          <a:prstGeom prst="line">
            <a:avLst/>
          </a:prstGeom>
          <a:ln w="25400">
            <a:solidFill>
              <a:srgbClr val="4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95160" y="2852928"/>
            <a:ext cx="292608" cy="0"/>
          </a:xfrm>
          <a:prstGeom prst="line">
            <a:avLst/>
          </a:prstGeom>
          <a:ln w="25400">
            <a:solidFill>
              <a:srgbClr val="4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2852928"/>
            <a:ext cx="292608" cy="0"/>
          </a:xfrm>
          <a:prstGeom prst="line">
            <a:avLst/>
          </a:prstGeom>
          <a:ln w="25400">
            <a:solidFill>
              <a:srgbClr val="4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343400"/>
            <a:ext cx="10241280" cy="4114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600" b="1">
                <a:solidFill>
                  <a:srgbClr val="F5F7FF"/>
                </a:solidFill>
                <a:latin typeface="Aptos"/>
              </a:rPr>
              <a:t>Song management workflow: add a song → save it in MongoDB → refresh the corpus list.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5074920"/>
            <a:ext cx="8321040" cy="54864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5193792"/>
            <a:ext cx="80467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300" b="0">
                <a:solidFill>
                  <a:srgbClr val="B0BBD2"/>
                </a:solidFill>
                <a:latin typeface="Aptos"/>
              </a:rPr>
              <a:t>The interface communicates with the backend through REST API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API Endpoints &amp;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How the application exchanges and stores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166360" cy="361188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4663440" cy="34747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800" b="1">
                <a:solidFill>
                  <a:srgbClr val="48DCE0"/>
                </a:solidFill>
                <a:latin typeface="Aptos"/>
              </a:rPr>
              <a:t>REST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7315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1">
                <a:solidFill>
                  <a:srgbClr val="72E6AB"/>
                </a:solidFill>
                <a:latin typeface="Aptos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40280"/>
            <a:ext cx="224028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/api/songs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240280"/>
            <a:ext cx="1691640" cy="4572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000" b="0">
                <a:solidFill>
                  <a:srgbClr val="B0BBD2"/>
                </a:solidFill>
                <a:latin typeface="Aptos"/>
              </a:rPr>
              <a:t>List all stored songs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62072"/>
            <a:ext cx="7315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1">
                <a:solidFill>
                  <a:srgbClr val="A576FF"/>
                </a:solidFill>
                <a:latin typeface="Aptos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62072"/>
            <a:ext cx="224028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/api/songs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862072"/>
            <a:ext cx="1691640" cy="4572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000" b="0">
                <a:solidFill>
                  <a:srgbClr val="B0BBD2"/>
                </a:solidFill>
                <a:latin typeface="Aptos"/>
              </a:rPr>
              <a:t>Add title, artist, and lyrics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83864"/>
            <a:ext cx="7315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1">
                <a:solidFill>
                  <a:srgbClr val="FF68A4"/>
                </a:solidFill>
                <a:latin typeface="Aptos"/>
              </a:rPr>
              <a:t>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483864"/>
            <a:ext cx="224028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/api/songs/{id}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483864"/>
            <a:ext cx="1691640" cy="4572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000" b="0">
                <a:solidFill>
                  <a:srgbClr val="B0BBD2"/>
                </a:solidFill>
                <a:latin typeface="Aptos"/>
              </a:rPr>
              <a:t>Remove a song by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6"/>
            <a:ext cx="73152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1">
                <a:solidFill>
                  <a:srgbClr val="A576FF"/>
                </a:solidFill>
                <a:latin typeface="Aptos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05656"/>
            <a:ext cx="2240280" cy="2743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/api/query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105656"/>
            <a:ext cx="1691640" cy="4572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000" b="0">
                <a:solidFill>
                  <a:srgbClr val="B0BBD2"/>
                </a:solidFill>
                <a:latin typeface="Aptos"/>
              </a:rPr>
              <a:t>Submit lyric and receive top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508760"/>
            <a:ext cx="5074920" cy="361188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19072"/>
            <a:ext cx="4480560" cy="34747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800" b="1">
                <a:solidFill>
                  <a:srgbClr val="A576FF"/>
                </a:solidFill>
                <a:latin typeface="Aptos"/>
              </a:rPr>
              <a:t>Song document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240280"/>
            <a:ext cx="1325880" cy="393192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2258568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48DCE0"/>
                </a:solidFill>
                <a:latin typeface="Aptos"/>
              </a:rPr>
              <a:t>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258568"/>
            <a:ext cx="29260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0">
                <a:solidFill>
                  <a:srgbClr val="F5F7FF"/>
                </a:solidFill>
                <a:latin typeface="Aptos"/>
              </a:rPr>
              <a:t>Unique song identifier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770632"/>
            <a:ext cx="1325880" cy="393192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788920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48DCE0"/>
                </a:solidFill>
                <a:latin typeface="Aptos"/>
              </a:rPr>
              <a:t>title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788920"/>
            <a:ext cx="29260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0">
                <a:solidFill>
                  <a:srgbClr val="F5F7FF"/>
                </a:solidFill>
                <a:latin typeface="Aptos"/>
              </a:rPr>
              <a:t>Song title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300984"/>
            <a:ext cx="1325880" cy="393192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319272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48DCE0"/>
                </a:solidFill>
                <a:latin typeface="Aptos"/>
              </a:rPr>
              <a:t>artist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319272"/>
            <a:ext cx="29260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0">
                <a:solidFill>
                  <a:srgbClr val="F5F7FF"/>
                </a:solidFill>
                <a:latin typeface="Aptos"/>
              </a:rPr>
              <a:t>Artist name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831336"/>
            <a:ext cx="1325880" cy="393192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849624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48DCE0"/>
                </a:solidFill>
                <a:latin typeface="Aptos"/>
              </a:rPr>
              <a:t>lyrics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849624"/>
            <a:ext cx="29260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0">
                <a:solidFill>
                  <a:srgbClr val="F5F7FF"/>
                </a:solidFill>
                <a:latin typeface="Aptos"/>
              </a:rPr>
              <a:t>Full lyric 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361688"/>
            <a:ext cx="1325880" cy="393192"/>
          </a:xfrm>
          <a:prstGeom prst="roundRect">
            <a:avLst/>
          </a:prstGeom>
          <a:solidFill>
            <a:srgbClr val="222B46"/>
          </a:solidFill>
          <a:ln>
            <a:solidFill>
              <a:srgbClr val="22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379976"/>
            <a:ext cx="1188720" cy="29260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48DCE0"/>
                </a:solidFill>
                <a:latin typeface="Aptos"/>
              </a:rPr>
              <a:t>shingles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79976"/>
            <a:ext cx="292608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200" b="0">
                <a:solidFill>
                  <a:srgbClr val="F5F7FF"/>
                </a:solidFill>
                <a:latin typeface="Aptos"/>
              </a:rPr>
              <a:t>Precomputed set of 3-word sequences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500" b="0">
                <a:solidFill>
                  <a:srgbClr val="B0BBD2"/>
                </a:solidFill>
                <a:latin typeface="Aptos"/>
              </a:rPr>
              <a:t>Query response includes song ID, title, artist, and similarity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Conclusion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49808" cy="50292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41248"/>
            <a:ext cx="9692640" cy="22860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B0BBD2"/>
                </a:solidFill>
                <a:latin typeface="Aptos"/>
              </a:rPr>
              <a:t>Summary and 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r"/>
            <a:r>
              <a:rPr sz="1000" b="1">
                <a:solidFill>
                  <a:srgbClr val="B0BBD2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074920" cy="155448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64008" cy="1554480"/>
          </a:xfrm>
          <a:prstGeom prst="rect">
            <a:avLst/>
          </a:prstGeom>
          <a:solidFill>
            <a:srgbClr val="48DCE0"/>
          </a:solidFill>
          <a:ln>
            <a:solidFill>
              <a:srgbClr val="4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618488"/>
            <a:ext cx="4709159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48DCE0"/>
                </a:solidFill>
                <a:latin typeface="Aptos"/>
              </a:rPr>
              <a:t>What the project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4709159" cy="98755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A full-stack lyric matching workflow with a React UI, Spring Boot API, MongoDB storage, shingle-based comparison, and top-five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074920" cy="155448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1554480"/>
          </a:xfrm>
          <a:prstGeom prst="rect">
            <a:avLst/>
          </a:prstGeom>
          <a:solidFill>
            <a:srgbClr val="A576FF"/>
          </a:solidFill>
          <a:ln>
            <a:solidFill>
              <a:srgbClr val="A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18488"/>
            <a:ext cx="4709159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A576FF"/>
                </a:solidFill>
                <a:latin typeface="Aptos"/>
              </a:rPr>
              <a:t>Current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84248"/>
            <a:ext cx="4709159" cy="98755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Jaccard similarity compares sets of 3-word shingles. Results are ranked by score; this indicates text similarity, not definitive authorship.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10149840" cy="384048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2000" b="1">
                <a:solidFill>
                  <a:srgbClr val="F5F7FF"/>
                </a:solidFill>
                <a:latin typeface="Aptos"/>
              </a:rPr>
              <a:t>Future enhancements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69080"/>
            <a:ext cx="3337560" cy="11430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69080"/>
            <a:ext cx="64008" cy="1143000"/>
          </a:xfrm>
          <a:prstGeom prst="rect">
            <a:avLst/>
          </a:prstGeom>
          <a:solidFill>
            <a:srgbClr val="FF68A4"/>
          </a:solidFill>
          <a:ln>
            <a:solidFill>
              <a:srgbClr val="FF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178808"/>
            <a:ext cx="297180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F68A4"/>
                </a:solidFill>
                <a:latin typeface="Aptos"/>
              </a:rPr>
              <a:t>Expand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54456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Seed the database with more songs.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069080"/>
            <a:ext cx="3337560" cy="11430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4069080"/>
            <a:ext cx="64008" cy="1143000"/>
          </a:xfrm>
          <a:prstGeom prst="rect">
            <a:avLst/>
          </a:prstGeom>
          <a:solidFill>
            <a:srgbClr val="72E6AB"/>
          </a:solidFill>
          <a:ln>
            <a:solidFill>
              <a:srgbClr val="72E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4178808"/>
            <a:ext cx="297180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72E6AB"/>
                </a:solidFill>
                <a:latin typeface="Aptos"/>
              </a:rPr>
              <a:t>Improve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454456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Evaluate TF-IDF and cosine similarity.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069080"/>
            <a:ext cx="3337560" cy="1143000"/>
          </a:xfrm>
          <a:prstGeom prst="roundRect">
            <a:avLst/>
          </a:prstGeom>
          <a:solidFill>
            <a:srgbClr val="192036"/>
          </a:solidFill>
          <a:ln>
            <a:solidFill>
              <a:srgbClr val="19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4069080"/>
            <a:ext cx="64008" cy="1143000"/>
          </a:xfrm>
          <a:prstGeom prst="rect">
            <a:avLst/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178808"/>
            <a:ext cx="2971800" cy="329184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600" b="1">
                <a:solidFill>
                  <a:srgbClr val="FFCC66"/>
                </a:solidFill>
                <a:latin typeface="Aptos"/>
              </a:rPr>
              <a:t>Scale the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54456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Add pagination and stronger validation.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ctr"/>
            <a:r>
              <a:rPr sz="1700" b="1">
                <a:solidFill>
                  <a:srgbClr val="48DCE0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